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594" autoAdjust="0"/>
    <p:restoredTop sz="94610"/>
  </p:normalViewPr>
  <p:slideViewPr>
    <p:cSldViewPr snapToGrid="0" snapToObjects="1">
      <p:cViewPr>
        <p:scale>
          <a:sx n="90" d="100"/>
          <a:sy n="90" d="100"/>
        </p:scale>
        <p:origin x="4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54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75000"/>
            <a:alpha val="5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287" y="924486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دليل المستخدم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78487" y="1352102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نظام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إدارة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مشاريع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التحول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23900" y="462915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ديسمبر 2025 | الإصدار 1.0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27DD8F-A874-3B49-309F-6A3A0492F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57" y="411480"/>
            <a:ext cx="5330635" cy="35204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📑 جدول المحتويات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995917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B4F72"/>
                </a:solidFill>
              </a:rPr>
              <a:t>1. نظرة عامة
2. تسجيل الدخول
3. لوحة التحكم الرئيسية
4. تسجيل مشروع جديد
5. البوابات الأربع
6. مسار الموافقات
7. مكتبة الدروس المستفادة
8. إدارة المخاطر
9. الأدوار والصلاحيات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880" y="990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🎯 نظرة عامة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3498DB"/>
                </a:solidFill>
              </a:rPr>
              <a:t>ما هو النظام؟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9160" y="1463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7F8C8D"/>
                </a:solidFill>
              </a:rPr>
              <a:t>منصة إلكترونية متكاملة لإدارة دورة حياة المشاريع في برنامج تطوير وزارة الحرس الوطني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19200" y="2240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27AE60"/>
                </a:solidFill>
              </a:rPr>
              <a:t>الأهداف الرئيسية: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97380" y="257556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000000"/>
                </a:solidFill>
              </a:rPr>
              <a:t>✅ تسجيل وتتبع المشاريع عبر البوابات الأربع
✅ إدارة مسار الموافقات الإلكتروني
✅ تسجيل وإدارة المخاطر
✅ الاستفادة من الدروس المستفادة
✅ تحليل وتقارير أداء المشاريع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F2B395-D02E-FF58-282E-18E8494A2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2188096"/>
            <a:ext cx="5419493" cy="2801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🔐 تسجيل الدخول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89420" y="1097280"/>
            <a:ext cx="1623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3498DB"/>
                </a:solidFill>
              </a:rPr>
              <a:t>خطوات الدخول: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011680" y="13258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000000"/>
                </a:solidFill>
              </a:rPr>
              <a:t>1. افتح المتصفح وانتقل إلى النظام</a:t>
            </a:r>
            <a:endParaRPr lang="en-US" sz="1600" dirty="0"/>
          </a:p>
          <a:p>
            <a:pPr marL="0" indent="0" algn="r" rtl="1">
              <a:buNone/>
            </a:pPr>
            <a:r>
              <a:rPr lang="en-US" sz="1600" dirty="0">
                <a:solidFill>
                  <a:srgbClr val="000000"/>
                </a:solidFill>
              </a:rPr>
              <a:t>2. أدخل بريدك الإلكتروني الرسمي (@mngdp.com)</a:t>
            </a:r>
            <a:endParaRPr lang="en-US" sz="1600" dirty="0"/>
          </a:p>
          <a:p>
            <a:pPr marL="0" indent="0" algn="r" rtl="1">
              <a:buNone/>
            </a:pPr>
            <a:r>
              <a:rPr lang="en-US" sz="1600" dirty="0">
                <a:solidFill>
                  <a:srgbClr val="000000"/>
                </a:solidFill>
              </a:rPr>
              <a:t>3. اضغط 'تأكيد'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3498DB"/>
                </a:solidFill>
              </a:rPr>
              <a:t>البريد الإلكتروني والصلاحيات: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20240" y="30937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• admin@mngdp.com → صلاحيات كاملة (إدارة النظام)
• planning@mngdp.com → إدارة التخطيط
• risk@mngdp.com → إدارة الحوكمة والمخاطر
• pmo@mngdp.com → مدير المحفظة
• أي بريد آخر → مدير مشروع / مستخدم عادي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36BE89-616D-3403-4C6A-819DD2C07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06" y="835763"/>
            <a:ext cx="3641503" cy="34719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📊 لوحة التحكم الرئيسية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-423885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3498DB"/>
                </a:solidFill>
              </a:rPr>
              <a:t>الإحصائيات العلوية: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19739" y="1186948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📁 إجمالي المشاريع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✅ البوابة الأولى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⏳ قيد التنفيذ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🎯 مكتملة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⚠️ معلقة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27AE60"/>
                </a:solidFill>
              </a:rPr>
              <a:t>بطاقات المشاريع تعرض: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68294" y="118694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• اسم المشروع والبرنامج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• مدير المشروع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• الميزانية المقدرة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• المحفظة وتواريخ البداية/النهاية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• عدد المخاطر ومرحلة الموافقة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17C1F7-80CC-98FC-0AE7-EF65B41E7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69" y="2706489"/>
            <a:ext cx="4249479" cy="22299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64516F-BFAB-A6AA-0B94-5BD78EF3F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253" y="2706489"/>
            <a:ext cx="4114001" cy="23138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➕ تسجيل مشروع جديد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40004" y="106113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E74C3C"/>
                </a:solidFill>
              </a:rPr>
              <a:t>الحقول الإلزامية: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2743" y="1157531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✅ اسم المشروع*
✅ اسم البرنامج* (بحث من 56 برنامج)
✅ الميزانية المقدرة*
✅ المحفظة*
✅ تاريخ البداية والنهاية*
✅ مدير المشروع ومدير البرنامج*
</a:t>
            </a:r>
            <a:r>
              <a:rPr lang="en-US" sz="1500" b="1" dirty="0">
                <a:solidFill>
                  <a:srgbClr val="E74C3C"/>
                </a:solidFill>
              </a:rPr>
              <a:t>✅ تسجيل خطر واحد على الأقل*</a:t>
            </a:r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F077D5-F1D0-2286-4C09-4FEFE6C45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36" y="127590"/>
            <a:ext cx="4030623" cy="4562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B6D7B0-B405-73B8-DDAA-C0E7603AE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850" y="3181633"/>
            <a:ext cx="3838923" cy="1911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4F72"/>
                </a:solidFill>
              </a:rPr>
              <a:t>🚪 البوابات الأربع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🟢 البوابة 1: التأسيس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مسار الموافقات (4 مراحل)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🟡 البوابة 2: التخطيط التفصيلي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النطاق وخيارات التنفيذ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3657600" cy="1097280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🔵 البوابة 3: التنفيذ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الجدول الزمني وميثاق المشروع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3657600" cy="1097280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🟣 البوابة 4: الإغلاق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الدروس المستفادة وخطة التفعيل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-16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✅ مسار الموافقات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6631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3498DB"/>
                </a:solidFill>
              </a:rPr>
              <a:t>الترتيب: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50828" y="703518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00000"/>
                </a:solidFill>
              </a:rPr>
              <a:t>1️⃣ مدير البرنامج </a:t>
            </a:r>
            <a:r>
              <a:rPr lang="en-US" sz="1400" dirty="0">
                <a:solidFill>
                  <a:srgbClr val="000000"/>
                </a:solidFill>
              </a:rPr>
              <a:t>(أول موافق)
</a:t>
            </a:r>
            <a:r>
              <a:rPr lang="en-US" sz="1600" b="1" dirty="0">
                <a:solidFill>
                  <a:srgbClr val="000000"/>
                </a:solidFill>
              </a:rPr>
              <a:t>2️⃣ إدارة التخطيط </a:t>
            </a:r>
            <a:r>
              <a:rPr lang="en-US" sz="1400" dirty="0">
                <a:solidFill>
                  <a:srgbClr val="000000"/>
                </a:solidFill>
              </a:rPr>
              <a:t>(planning@mngdp.com)
</a:t>
            </a:r>
            <a:r>
              <a:rPr lang="en-US" sz="1600" b="1" dirty="0">
                <a:solidFill>
                  <a:srgbClr val="000000"/>
                </a:solidFill>
              </a:rPr>
              <a:t>3️⃣ إدارة الحوكمة/المخاطر </a:t>
            </a:r>
            <a:r>
              <a:rPr lang="en-US" sz="1400" dirty="0">
                <a:solidFill>
                  <a:srgbClr val="000000"/>
                </a:solidFill>
              </a:rPr>
              <a:t>(risk@mngdp.com)
</a:t>
            </a:r>
            <a:r>
              <a:rPr lang="en-US" sz="1600" b="1" dirty="0">
                <a:solidFill>
                  <a:srgbClr val="000000"/>
                </a:solidFill>
              </a:rPr>
              <a:t>4️⃣ مدير المحفظة </a:t>
            </a:r>
            <a:r>
              <a:rPr lang="en-US" sz="1400" dirty="0">
                <a:solidFill>
                  <a:srgbClr val="000000"/>
                </a:solidFill>
              </a:rPr>
              <a:t>(الموافقة النهائية)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40357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27AE60"/>
                </a:solidFill>
              </a:rPr>
              <a:t>لكل موافق: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4310084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✅ الموافقة → ينتقل للموافق التالي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❌ الرفض → يعود للمدير مع سبب الرفض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7278D7-592A-504F-D020-20279D819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344" y="-23977"/>
            <a:ext cx="3434823" cy="32837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5FD74A-88E9-F9A5-B1DF-B691E354A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35" y="2439811"/>
            <a:ext cx="3057559" cy="270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📚 مكتبة الدروس المستفادة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13529" y="1333323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27AE60"/>
                </a:solidFill>
              </a:rPr>
              <a:t>كل درس يحتوي على: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96409" y="18351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العنوان والفئة والوصف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الدرس المستفاد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المشكلة والتوصية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</a:t>
            </a:r>
            <a:r>
              <a:rPr lang="en-US" sz="1500" dirty="0" err="1">
                <a:solidFill>
                  <a:srgbClr val="000000"/>
                </a:solidFill>
              </a:rPr>
              <a:t>المشروع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المصدر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5375D-05DD-B31E-AF37-19C14722E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15" y="822550"/>
            <a:ext cx="4388213" cy="4046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⚠️ إدارة المخاطر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-664889" y="751367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E74C3C"/>
                </a:solidFill>
              </a:rPr>
              <a:t>تسجيل خطر جديد: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-191386" y="603575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00000"/>
                </a:solidFill>
              </a:rPr>
              <a:t>• عنوان الخطر ونوعه (تهديد/فرصة)</a:t>
            </a: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000000"/>
                </a:solidFill>
              </a:rPr>
              <a:t>• الاحتمالية (1-5) والتأثير (1-5)</a:t>
            </a: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000000"/>
                </a:solidFill>
              </a:rPr>
              <a:t>• نطاق التأثير (8 فئات)</a:t>
            </a: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000000"/>
                </a:solidFill>
              </a:rPr>
              <a:t>• نوع الاستجابة:</a:t>
            </a: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000000"/>
                </a:solidFill>
              </a:rPr>
              <a:t>  تخفيف | تجنب | نقل | قبول</a:t>
            </a: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000000"/>
                </a:solidFill>
              </a:rPr>
              <a:t>• خطة التخفيف والحالة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95885" y="99095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3498DB"/>
                </a:solidFill>
              </a:rPr>
              <a:t>نطاق التأثير: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270205" y="11899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استراتيجية | مالية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تشغيلية | قدرات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التزام | تقنية وبيانات</a:t>
            </a:r>
            <a:endParaRPr lang="en-US" sz="1400" dirty="0"/>
          </a:p>
          <a:p>
            <a:pPr marL="0" indent="0" algn="r" rtl="1">
              <a:buNone/>
            </a:pPr>
            <a:r>
              <a:rPr lang="en-US" sz="1400" dirty="0">
                <a:solidFill>
                  <a:srgbClr val="000000"/>
                </a:solidFill>
              </a:rPr>
              <a:t>سمعة | أشخاص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E86F55-AE4B-6FAB-9643-54CBCF5A1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334" y="2035317"/>
            <a:ext cx="4560371" cy="29792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👥 الأدوار والصلاحيات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600" b="1" dirty="0">
                <a:solidFill>
                  <a:srgbClr val="E74C3C"/>
                </a:solidFill>
              </a:rPr>
              <a:t>الأدمن: </a:t>
            </a:r>
            <a:r>
              <a:rPr lang="en-US" sz="1400" dirty="0">
                <a:solidFill>
                  <a:srgbClr val="000000"/>
                </a:solidFill>
              </a:rPr>
              <a:t>صلاحيات كاملة </a:t>
            </a:r>
            <a:r>
              <a:rPr lang="en-US" sz="1400" dirty="0" err="1">
                <a:solidFill>
                  <a:srgbClr val="000000"/>
                </a:solidFill>
              </a:rPr>
              <a:t>لجميع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المشاريع</a:t>
            </a:r>
            <a:r>
              <a:rPr lang="ar-SA" sz="1400" dirty="0">
                <a:solidFill>
                  <a:srgbClr val="000000"/>
                </a:solidFill>
              </a:rPr>
              <a:t>- لفريق </a:t>
            </a:r>
            <a:r>
              <a:rPr lang="en-US" sz="1400" dirty="0">
                <a:solidFill>
                  <a:srgbClr val="000000"/>
                </a:solidFill>
              </a:rPr>
              <a:t>BI
</a:t>
            </a:r>
            <a:r>
              <a:rPr lang="en-US" sz="1600" b="1" dirty="0">
                <a:solidFill>
                  <a:srgbClr val="9B59B6"/>
                </a:solidFill>
              </a:rPr>
              <a:t> </a:t>
            </a:r>
            <a:r>
              <a:rPr lang="en-US" sz="1600" b="1" dirty="0" err="1">
                <a:solidFill>
                  <a:srgbClr val="9B59B6"/>
                </a:solidFill>
              </a:rPr>
              <a:t>مدير</a:t>
            </a:r>
            <a:r>
              <a:rPr lang="en-US" sz="1600" b="1" dirty="0">
                <a:solidFill>
                  <a:srgbClr val="9B59B6"/>
                </a:solidFill>
              </a:rPr>
              <a:t> </a:t>
            </a:r>
            <a:r>
              <a:rPr lang="en-US" sz="1600" b="1" dirty="0" err="1">
                <a:solidFill>
                  <a:srgbClr val="9B59B6"/>
                </a:solidFill>
              </a:rPr>
              <a:t>البرنامج</a:t>
            </a:r>
            <a:r>
              <a:rPr lang="en-US" sz="1600" b="1" dirty="0">
                <a:solidFill>
                  <a:srgbClr val="9B59B6"/>
                </a:solidFill>
              </a:rPr>
              <a:t>: </a:t>
            </a:r>
            <a:r>
              <a:rPr lang="en-US" sz="1400" dirty="0" err="1">
                <a:solidFill>
                  <a:srgbClr val="000000"/>
                </a:solidFill>
              </a:rPr>
              <a:t>الموافقة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المبدئية</a:t>
            </a:r>
            <a:endParaRPr lang="en-US" sz="1400" dirty="0">
              <a:solidFill>
                <a:srgbClr val="000000"/>
              </a:solidFill>
            </a:endParaRPr>
          </a:p>
          <a:p>
            <a:pPr algn="r" rtl="1"/>
            <a:endParaRPr lang="en-US" sz="1400" dirty="0">
              <a:solidFill>
                <a:srgbClr val="000000"/>
              </a:solidFill>
            </a:endParaRPr>
          </a:p>
          <a:p>
            <a:pPr marL="0" indent="0" algn="r" rtl="1">
              <a:buNone/>
            </a:pPr>
            <a:r>
              <a:rPr lang="en-US" sz="1600" b="1" dirty="0" err="1">
                <a:solidFill>
                  <a:srgbClr val="3498DB"/>
                </a:solidFill>
              </a:rPr>
              <a:t>إدارة</a:t>
            </a:r>
            <a:r>
              <a:rPr lang="en-US" sz="1600" b="1" dirty="0">
                <a:solidFill>
                  <a:srgbClr val="3498DB"/>
                </a:solidFill>
              </a:rPr>
              <a:t> التخطيط: </a:t>
            </a:r>
            <a:r>
              <a:rPr lang="en-US" sz="1400" dirty="0">
                <a:solidFill>
                  <a:srgbClr val="000000"/>
                </a:solidFill>
              </a:rPr>
              <a:t>موافقة المرحلة الثانية
</a:t>
            </a:r>
            <a:r>
              <a:rPr lang="en-US" sz="1600" b="1" dirty="0">
                <a:solidFill>
                  <a:srgbClr val="27AE60"/>
                </a:solidFill>
              </a:rPr>
              <a:t>إدارة الحوكمة/المخاطر: </a:t>
            </a:r>
            <a:r>
              <a:rPr lang="en-US" sz="1400" dirty="0">
                <a:solidFill>
                  <a:srgbClr val="000000"/>
                </a:solidFill>
              </a:rPr>
              <a:t>موافقة المرحلة الثالثة
</a:t>
            </a:r>
            <a:r>
              <a:rPr lang="en-US" sz="1600" b="1" dirty="0">
                <a:solidFill>
                  <a:srgbClr val="F39C12"/>
                </a:solidFill>
              </a:rPr>
              <a:t>مدير المحفظة: </a:t>
            </a:r>
            <a:r>
              <a:rPr lang="en-US" sz="1400" dirty="0">
                <a:solidFill>
                  <a:srgbClr val="000000"/>
                </a:solidFill>
              </a:rPr>
              <a:t>الموافقة النهائية
</a:t>
            </a:r>
            <a:r>
              <a:rPr lang="en-US" sz="1600" b="1" dirty="0">
                <a:solidFill>
                  <a:srgbClr val="7F8C8D"/>
                </a:solidFill>
              </a:rPr>
              <a:t>مدير المشروع: </a:t>
            </a:r>
            <a:r>
              <a:rPr lang="en-US" sz="1400" dirty="0">
                <a:solidFill>
                  <a:srgbClr val="000000"/>
                </a:solidFill>
              </a:rPr>
              <a:t>إدارة مشاريعه فقط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437D1-6EF9-FDB9-5379-04A58C8D8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5030"/>
            <a:ext cx="5534025" cy="781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🎓 </a:t>
            </a:r>
            <a:r>
              <a:rPr lang="en-US" sz="3600" b="1" dirty="0" err="1">
                <a:solidFill>
                  <a:srgbClr val="1B4F72"/>
                </a:solidFill>
              </a:rPr>
              <a:t>نصائح</a:t>
            </a:r>
            <a:r>
              <a:rPr lang="en-US" sz="3600" b="1" dirty="0">
                <a:solidFill>
                  <a:srgbClr val="1B4F72"/>
                </a:solidFill>
              </a:rPr>
              <a:t> </a:t>
            </a:r>
            <a:r>
              <a:rPr lang="en-US" sz="3600" b="1" dirty="0" err="1">
                <a:solidFill>
                  <a:srgbClr val="1B4F72"/>
                </a:solidFill>
              </a:rPr>
              <a:t>للاستخدام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3498DB"/>
                </a:solidFill>
              </a:rPr>
              <a:t>التخطيط: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</a:t>
            </a:r>
            <a:r>
              <a:rPr lang="en-US" sz="1500" dirty="0" err="1">
                <a:solidFill>
                  <a:srgbClr val="000000"/>
                </a:solidFill>
              </a:rPr>
              <a:t>ملء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البيانات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</a:t>
            </a:r>
            <a:r>
              <a:rPr lang="ar-SA" sz="1500" dirty="0">
                <a:solidFill>
                  <a:srgbClr val="000000"/>
                </a:solidFill>
              </a:rPr>
              <a:t>اختر</a:t>
            </a:r>
            <a:r>
              <a:rPr lang="en-US" sz="1500" dirty="0">
                <a:solidFill>
                  <a:srgbClr val="000000"/>
                </a:solidFill>
              </a:rPr>
              <a:t> من مكتبة الدروس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سجّل جميع المخاطر المحتملة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27AE60"/>
                </a:solidFill>
              </a:rPr>
              <a:t>التتبع: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راجع مشاريعك بانتظام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حدّث الجدول الزمني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تابع المخاطر الجديدة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F39C12"/>
                </a:solidFill>
              </a:rPr>
              <a:t>التوثيق: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383449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وثّق جميع القرارات المهمة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• سجّل </a:t>
            </a:r>
            <a:r>
              <a:rPr lang="en-US" sz="1500" dirty="0" err="1">
                <a:solidFill>
                  <a:srgbClr val="000000"/>
                </a:solidFill>
              </a:rPr>
              <a:t>الدروس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ar-SA" sz="1500" dirty="0">
                <a:solidFill>
                  <a:srgbClr val="000000"/>
                </a:solidFill>
              </a:rPr>
              <a:t>المستفادة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B4F72"/>
                </a:solidFill>
              </a:rPr>
              <a:t>📞 الدعم والتواصل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3498DB"/>
                </a:solidFill>
              </a:rPr>
              <a:t>للمساعدة: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88558" y="1183049"/>
            <a:ext cx="73152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000000"/>
                </a:solidFill>
              </a:rPr>
              <a:t>📧 البريد الإلكتروني: BiTeam@mngdp.com</a:t>
            </a:r>
            <a:endParaRPr lang="en-US" sz="1600" dirty="0"/>
          </a:p>
          <a:p>
            <a:pPr marL="0" indent="0" algn="r" rtl="1">
              <a:buNone/>
            </a:pPr>
            <a:r>
              <a:rPr lang="en-US" sz="1600" dirty="0">
                <a:solidFill>
                  <a:srgbClr val="000000"/>
                </a:solidFill>
              </a:rPr>
              <a:t>📱 صفحة 'تواصل معنا' في النظام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78195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E74C3C"/>
                </a:solidFill>
              </a:rPr>
              <a:t>الأمان: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🔒 البيانات مشفرة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🔐 الوصول محمي بالبريد الإلكتروني</a:t>
            </a:r>
            <a:endParaRPr lang="en-US" sz="1500" dirty="0"/>
          </a:p>
          <a:p>
            <a:pPr marL="0" indent="0" algn="r" rtl="1">
              <a:buNone/>
            </a:pPr>
            <a:r>
              <a:rPr lang="en-US" sz="1500" dirty="0">
                <a:solidFill>
                  <a:srgbClr val="000000"/>
                </a:solidFill>
              </a:rPr>
              <a:t>📝 تسجيل جميع العمليات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B55129-5315-A5AD-A56C-90BD97F57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2" y="617308"/>
            <a:ext cx="4492886" cy="41794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accent4">
            <a:lumMod val="75000"/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🛡️ برنامج تطوير وزارة الحرس الوطني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4760019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آخر تحديث: ديسمبر 2025 | الإصدار: 1.0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ae6671a-5249-452b-90f8-8b3499ce8865}" enabled="1" method="Privileged" siteId="{859f050e-9731-4556-aab4-683a27e7fa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646</Words>
  <Application>Microsoft Office PowerPoint</Application>
  <PresentationFormat>On-screen Show (16:9)</PresentationFormat>
  <Paragraphs>107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Fawziah Abdullah Alqarni</cp:lastModifiedBy>
  <cp:revision>2</cp:revision>
  <dcterms:created xsi:type="dcterms:W3CDTF">2025-12-14T11:59:38Z</dcterms:created>
  <dcterms:modified xsi:type="dcterms:W3CDTF">2025-12-14T12:29:51Z</dcterms:modified>
</cp:coreProperties>
</file>